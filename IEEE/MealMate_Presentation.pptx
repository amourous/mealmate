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2926080"/>
            <a:ext cx="5029200" cy="502920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3657600"/>
            <a:ext cx="3657600" cy="3657600"/>
          </a:xfrm>
          <a:prstGeom prst="ellipse">
            <a:avLst/>
          </a:prstGeom>
          <a:solidFill>
            <a:srgbClr val="2D2B8F"/>
          </a:solidFill>
          <a:ln w="12700">
            <a:solidFill>
              <a:srgbClr val="2D2B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MealMate</a:t>
            </a:r>
            <a:endParaRPr lang="en-US" sz="7600" dirty="0"/>
          </a:p>
        </p:txBody>
      </p:sp>
      <p:sp>
        <p:nvSpPr>
          <p:cNvPr id="6" name="Shape 4"/>
          <p:cNvSpPr/>
          <p:nvPr/>
        </p:nvSpPr>
        <p:spPr>
          <a:xfrm>
            <a:off x="502920" y="2880360"/>
            <a:ext cx="4114800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06324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Meal Planning &amp; Smart Grocery Management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3794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ElSayed  •  April 2026  •  Software Engineering Project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434340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343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DEPLOYMENT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46120" y="4407408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mealmate-835.pages.dev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Meal Planning is Broken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5669280" cy="173736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453896"/>
            <a:ext cx="534009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🗑️  Food Waste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828800"/>
            <a:ext cx="534009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estimates 1.05B tonnes of food wasted globally per year — households responsible for ~60% of it.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337560"/>
            <a:ext cx="5669280" cy="173736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3465576"/>
            <a:ext cx="534009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Overspending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0352" y="3840480"/>
            <a:ext cx="534009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 grocery shopping leads to over-purchasing, duplicate buying, and inflated weekly bills.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81928" y="1325880"/>
            <a:ext cx="5669280" cy="173736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453896"/>
            <a:ext cx="534009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Time Lost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1828800"/>
            <a:ext cx="534009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Juggling recipe sites, notes apps, and spreadsheets creates daily friction that discourages planning.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81928" y="3337560"/>
            <a:ext cx="5669280" cy="173736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3465576"/>
            <a:ext cx="534009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No Inventory View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46520" y="3840480"/>
            <a:ext cx="534009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 routinely buy ingredients they already own because there is no unified pantry tracking.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The Full Food Lifecycle.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61872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MealMate integrates every step — from recipe discovery to pantry tracking — into a single cohesive workflow, powered by edge AI and serverless computing, with zero cost to the end user.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3703320" cy="1755648"/>
          </a:xfrm>
          <a:prstGeom prst="roundRect">
            <a:avLst>
              <a:gd name="adj" fmla="val 5208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2231136"/>
            <a:ext cx="337413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AI Recipe Scraper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2606040"/>
            <a:ext cx="337413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any URL. Jina AI + Llama 3.3 70B extracts and normalises every ingredient automatically.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2103120"/>
            <a:ext cx="3703320" cy="1755648"/>
          </a:xfrm>
          <a:prstGeom prst="roundRect">
            <a:avLst>
              <a:gd name="adj" fmla="val 5208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62272" y="2231136"/>
            <a:ext cx="337413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Weekly Meal Planner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62272" y="2606040"/>
            <a:ext cx="337413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recipes into a 7-day grid. Serving sizes adjust dynamically.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0" y="2103120"/>
            <a:ext cx="3703320" cy="1755648"/>
          </a:xfrm>
          <a:prstGeom prst="roundRect">
            <a:avLst>
              <a:gd name="adj" fmla="val 5208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94192" y="2231136"/>
            <a:ext cx="337413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Smart Grocery List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94192" y="2606040"/>
            <a:ext cx="337413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 are merged, converted, and deducted from pantry stock automatically.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023360"/>
            <a:ext cx="3703320" cy="1755648"/>
          </a:xfrm>
          <a:prstGeom prst="roundRect">
            <a:avLst>
              <a:gd name="adj" fmla="val 5208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4151376"/>
            <a:ext cx="337413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 Pantry Manager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" y="4526280"/>
            <a:ext cx="337413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existing stock and performs partial deductions down to the gram or millilitre.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97680" y="4023360"/>
            <a:ext cx="3703320" cy="1755648"/>
          </a:xfrm>
          <a:prstGeom prst="roundRect">
            <a:avLst>
              <a:gd name="adj" fmla="val 5208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62272" y="4151376"/>
            <a:ext cx="337413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Budget Tracker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462272" y="4526280"/>
            <a:ext cx="337413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cost overview updates live as meals are added or removed.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29600" y="4023360"/>
            <a:ext cx="3703320" cy="1755648"/>
          </a:xfrm>
          <a:prstGeom prst="roundRect">
            <a:avLst>
              <a:gd name="adj" fmla="val 5208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94192" y="4151376"/>
            <a:ext cx="337413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Dietary Filters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94192" y="4526280"/>
            <a:ext cx="337413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Vegan, Vegetarian, Gluten-Free, High-Protein — personalised in one click.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Edge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502920" cy="594360"/>
          </a:xfrm>
          <a:prstGeom prst="roundRect">
            <a:avLst>
              <a:gd name="adj" fmla="val 14545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2588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05840" y="1453896"/>
            <a:ext cx="10058400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34416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pastes a recipe URL into the React 18 SPA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" y="192024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502920" cy="594360"/>
          </a:xfrm>
          <a:prstGeom prst="roundRect">
            <a:avLst>
              <a:gd name="adj" fmla="val 14545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176272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05840" y="2304288"/>
            <a:ext cx="10058400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21945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Edge Worker receives the request instantly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" y="2770632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026664"/>
            <a:ext cx="502920" cy="594360"/>
          </a:xfrm>
          <a:prstGeom prst="roundRect">
            <a:avLst>
              <a:gd name="adj" fmla="val 14545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026664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05840" y="3154680"/>
            <a:ext cx="10058400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3044952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Jina AI strips the webpage down to clean Markdown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" y="3621024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3877056"/>
            <a:ext cx="502920" cy="594360"/>
          </a:xfrm>
          <a:prstGeom prst="roundRect">
            <a:avLst>
              <a:gd name="adj" fmla="val 14545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877056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05840" y="4005072"/>
            <a:ext cx="10058400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43000" y="3895344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 parses it into a typed JSON schema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" y="4471416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65760" y="4727448"/>
            <a:ext cx="502920" cy="594360"/>
          </a:xfrm>
          <a:prstGeom prst="roundRect">
            <a:avLst>
              <a:gd name="adj" fmla="val 14545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727448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05840" y="4855464"/>
            <a:ext cx="10058400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43000" y="4745736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stored in Supabase (PostgreSQL) via RLS-protected REST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4632" y="5321808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65760" y="5577840"/>
            <a:ext cx="502920" cy="594360"/>
          </a:xfrm>
          <a:prstGeom prst="roundRect">
            <a:avLst>
              <a:gd name="adj" fmla="val 14545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557784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05840" y="5705856"/>
            <a:ext cx="10058400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43000" y="559612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Planner, Grocery Engine &amp; Pantry Manager query data in real-time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98448"/>
          <a:ext cx="1145743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0"/>
                <a:gridCol w="578815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18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18 + Vite 5 + Vanilla CSS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Concurrent rendering, HMR, tree-shaken bundles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18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Compute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Cloudflare Workers (V8 Isolates)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Globally distributed serverless backend — zero cold starts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18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/ LLM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Cloudflare Workers AI — Llama 3.3 70B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 recipe parsing engine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18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Pre-processor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Jina AI Reader 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 → clean Markdown before LLM ingestion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18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Supabase (PostgreSQL) + RLS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Relational data, row-level security, REST 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18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Cloudflare Pages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CDN-delivered SPA with CI/CD on every git push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18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Jest + Supertest + Vitest + Postman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3-layer test strategy — 100% pass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TECHNOLOGY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Recipe Scraper Pipeline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41732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6002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Recipe URL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" y="21488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pastes any link — no special format required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99232" y="2240280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328416" y="141732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65576" y="16002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Jina AI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65576" y="21488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page, strips ads &amp; scripts → outputs clean Markdown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80176" y="2240280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309360" y="141732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6002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6520" y="21488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Markdown using a strict JSON schema system prompt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961120" y="2240280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9290304" y="141732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27464" y="16002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JSON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427464" y="21488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ingredient, quantity, unit } — fully computable data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657600"/>
            <a:ext cx="11457432" cy="1188720"/>
          </a:xfrm>
          <a:prstGeom prst="roundRect">
            <a:avLst>
              <a:gd name="adj" fmla="val 9231"/>
            </a:avLst>
          </a:prstGeom>
          <a:solidFill>
            <a:srgbClr val="1A1040"/>
          </a:solidFill>
          <a:ln w="12700">
            <a:solidFill>
              <a:srgbClr val="1A10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7307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 Innovation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40690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traditional scrapers that break on every website redesign, this pipeline uses the LLM as a semantic understanding layer. A string like "two 15oz cans of black beans, drained" becomes quantity:30, unit:"oz", ingredient:"black beans" — perfectly computable data, every time, on any website.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Test Results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325880"/>
            <a:ext cx="3566160" cy="224028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6459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30352" y="26517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API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Pass Rate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42816" y="1325880"/>
            <a:ext cx="3566160" cy="224028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25696" y="16459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&lt;200ms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425696" y="26517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1325880"/>
            <a:ext cx="3566160" cy="224028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16459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8321040" y="26517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7472" y="3840480"/>
            <a:ext cx="3566160" cy="224028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41605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&lt;200MB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530352" y="51663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Size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242816" y="3840480"/>
            <a:ext cx="3566160" cy="224028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25696" y="41605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4425696" y="51663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138160" y="3840480"/>
            <a:ext cx="3566160" cy="224028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1040" y="41605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€0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8321040" y="51663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Budget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&amp; SDG Alignment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32588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325880"/>
            <a:ext cx="35661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463040"/>
            <a:ext cx="323697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Environmental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12064" y="1965960"/>
            <a:ext cx="3236976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Pantry Manager + deduction algorithm directly reduces household food waste — one of the largest contributors to global carbon emissions.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42816" y="132588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42816" y="1325880"/>
            <a:ext cx="3566160" cy="6400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07408" y="1463040"/>
            <a:ext cx="323697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Social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07408" y="1965960"/>
            <a:ext cx="3236976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Dietary filters (Vegan, Vegetarian, Gluten-Free, High-Protein) democratise health-conscious nutrition planning at zero cost.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32588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325880"/>
            <a:ext cx="35661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02752" y="1463040"/>
            <a:ext cx="323697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Economic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02752" y="1965960"/>
            <a:ext cx="3236976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budget tracker prevents overspending. Free-tier infrastructure means the tool is accessible to all income levels.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3749040"/>
          <a:ext cx="114757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560320"/>
                <a:gridCol w="772668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MealMate Contributes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SDG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Poverty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Reduces grocery spending for budget-constrained households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SDG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Hunger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Promotes efficient, intentional food consumption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SDG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Health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Supports dietary-specific meal planning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SDG 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Responsible Consumption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Reduces waste via pantry tracking &amp; accurate shopping lists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 Achieved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9903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99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41732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Architecture Baseline — MoSCoW priorities, UML diagrams before any code was written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167128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Authentication Layer — JWT-based login verified with full Postman test collection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89864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898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2916936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 Complete — Planner, Grocery Engine, Pantry Manager, Budget Tracker all implemented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64845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648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3666744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Scraper Deployed — Jina AI + Llama 3.3 70B pipeline live on Cloudflare Edge Workers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439826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398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4416552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Migration — Local SQLite → Supabase (PostgreSQL) with zero data loss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51480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5148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5840" y="516636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Deployment — Live at mealmate-835.pages.dev with working demo account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58978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05840" y="5916168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Complete — 3-layer strategy (Jest + Supertest + Vitest + Postman) — 100% pass rate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Vision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325880"/>
            <a:ext cx="3566160" cy="5120640"/>
          </a:xfrm>
          <a:prstGeom prst="roundRect">
            <a:avLst>
              <a:gd name="adj" fmla="val 307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325880"/>
            <a:ext cx="3566160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463040"/>
            <a:ext cx="323697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12064" y="2057400"/>
            <a:ext cx="32369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 Native mobile app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2064" y="2862072"/>
            <a:ext cx="32369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Community recipe library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2064" y="3666744"/>
            <a:ext cx="32369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1,000 active users via university outreach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064" y="4471416"/>
            <a:ext cx="32369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Structured usability pilot study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42816" y="1325880"/>
            <a:ext cx="3566160" cy="5120640"/>
          </a:xfrm>
          <a:prstGeom prst="roundRect">
            <a:avLst>
              <a:gd name="adj" fmla="val 307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42816" y="1325880"/>
            <a:ext cx="35661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07408" y="1463040"/>
            <a:ext cx="323697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407408" y="2057400"/>
            <a:ext cx="32369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Nutritional analysis API integration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07408" y="2862072"/>
            <a:ext cx="32369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AI-generated personalized meal suggestions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07408" y="3666744"/>
            <a:ext cx="32369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Grocery retailer API price feeds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07408" y="4471416"/>
            <a:ext cx="32369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Premium freemium tier launch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38160" y="1325880"/>
            <a:ext cx="3566160" cy="5120640"/>
          </a:xfrm>
          <a:prstGeom prst="roundRect">
            <a:avLst>
              <a:gd name="adj" fmla="val 307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38160" y="1325880"/>
            <a:ext cx="35661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02752" y="1463040"/>
            <a:ext cx="323697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02752" y="2057400"/>
            <a:ext cx="32369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Household group accounts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02752" y="2862072"/>
            <a:ext cx="32369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B2B API for wellness platforms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302752" y="3666744"/>
            <a:ext cx="32369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GDPR compliance audit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302752" y="4471416"/>
            <a:ext cx="32369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Major grocery retailer partnerships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4114800"/>
            <a:ext cx="4572000" cy="457200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0" y="-457200"/>
            <a:ext cx="4572000" cy="4572000"/>
          </a:xfrm>
          <a:prstGeom prst="ellipse">
            <a:avLst/>
          </a:prstGeom>
          <a:solidFill>
            <a:srgbClr val="1A1855"/>
          </a:solidFill>
          <a:ln w="12700">
            <a:solidFill>
              <a:srgbClr val="1A18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371600"/>
            <a:ext cx="944575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7" name="Shape 5"/>
          <p:cNvSpPr/>
          <p:nvPr/>
        </p:nvSpPr>
        <p:spPr>
          <a:xfrm>
            <a:off x="4114800" y="3017520"/>
            <a:ext cx="3959352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320040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388620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ElSayed  •  Software Engineering Project  •  April 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4617720"/>
            <a:ext cx="5788152" cy="12801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4736592"/>
            <a:ext cx="578815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Live Demo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5120640"/>
            <a:ext cx="57881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mealmate-835.pages.dev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0" y="5468112"/>
            <a:ext cx="578815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demo@mealmate.com  /  Demo1234!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2026-04-25T13:35:27Z</dcterms:created>
  <dcterms:modified xsi:type="dcterms:W3CDTF">2026-04-25T13:35:27Z</dcterms:modified>
</cp:coreProperties>
</file>